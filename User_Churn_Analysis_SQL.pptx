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2" r:id="rId1"/>
    <p:sldMasterId id="2147483693" r:id="rId2"/>
    <p:sldMasterId id="2147483694" r:id="rId3"/>
  </p:sldMasterIdLst>
  <p:notesMasterIdLst>
    <p:notesMasterId r:id="rId10"/>
  </p:notesMasterIdLst>
  <p:sldIdLst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Dosis" pitchFamily="2" charset="0"/>
      <p:regular r:id="rId11"/>
      <p:bold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lack" panose="02000000000000000000" pitchFamily="2" charset="0"/>
      <p:bold r:id="rId17"/>
      <p:italic r:id="rId18"/>
      <p:boldItalic r:id="rId19"/>
    </p:embeddedFont>
    <p:embeddedFont>
      <p:font typeface="Roboto Thin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EEEEEE"/>
    <a:srgbClr val="DFD9DB"/>
    <a:srgbClr val="496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28B589-4659-4227-9C68-565DD4A46BFE}">
  <a:tblStyle styleId="{8628B589-4659-4227-9C68-565DD4A46B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733"/>
  </p:normalViewPr>
  <p:slideViewPr>
    <p:cSldViewPr snapToGrid="0">
      <p:cViewPr varScale="1">
        <p:scale>
          <a:sx n="137" d="100"/>
          <a:sy n="137" d="100"/>
        </p:scale>
        <p:origin x="75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1.fntdata"/><Relationship Id="rId7" Type="http://schemas.openxmlformats.org/officeDocument/2006/relationships/slide" Target="slides/slide4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296" name="Shape 2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302" name="Shape 3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308" name="Shape 3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>
          <a:extLst>
            <a:ext uri="{FF2B5EF4-FFF2-40B4-BE49-F238E27FC236}">
              <a16:creationId xmlns:a16="http://schemas.microsoft.com/office/drawing/2014/main" id="{F3F3B516-1055-3DE8-7761-0E77076D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>
            <a:extLst>
              <a:ext uri="{FF2B5EF4-FFF2-40B4-BE49-F238E27FC236}">
                <a16:creationId xmlns:a16="http://schemas.microsoft.com/office/drawing/2014/main" id="{BEDD2BBB-C372-B8D9-D303-FABC3EE23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u-HU"/>
          </a:p>
        </p:txBody>
      </p:sp>
      <p:sp>
        <p:nvSpPr>
          <p:cNvPr id="296" name="Shape 296">
            <a:extLst>
              <a:ext uri="{FF2B5EF4-FFF2-40B4-BE49-F238E27FC236}">
                <a16:creationId xmlns:a16="http://schemas.microsoft.com/office/drawing/2014/main" id="{A19E8F03-5D57-4BA4-9617-C3A4FEA6E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581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469021" y="1983100"/>
            <a:ext cx="8210374" cy="78467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560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TITLE GOES HERE</a:t>
            </a:r>
            <a:endParaRPr sz="10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5" name="Shape 55"/>
          <p:cNvSpPr/>
          <p:nvPr/>
        </p:nvSpPr>
        <p:spPr>
          <a:xfrm>
            <a:off x="469011" y="2814675"/>
            <a:ext cx="8210374" cy="514596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6A8"/>
              </a:buClr>
              <a:buFont typeface="Arial"/>
              <a:buNone/>
            </a:pPr>
            <a:r>
              <a:rPr lang="en" sz="3500" b="0" i="0" u="none" strike="noStrike" cap="none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Subtitle goes here</a:t>
            </a:r>
            <a:endParaRPr sz="10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6" name="Shape 56"/>
          <p:cNvSpPr/>
          <p:nvPr/>
        </p:nvSpPr>
        <p:spPr>
          <a:xfrm>
            <a:off x="469031" y="4578285"/>
            <a:ext cx="1792609" cy="19645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800" b="0" i="0" u="none" strike="noStrike" cap="none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New York  </a:t>
            </a:r>
            <a:r>
              <a:rPr lang="en" sz="800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-</a:t>
            </a:r>
            <a:r>
              <a:rPr lang="en" sz="800" b="0" i="0" u="none" strike="noStrike" cap="none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  10th February, 2014</a:t>
            </a:r>
            <a:endParaRPr sz="8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57" name="Shape 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9028" y="620299"/>
            <a:ext cx="1362880" cy="28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USTOM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/>
        </p:nvSpPr>
        <p:spPr>
          <a:xfrm>
            <a:off x="469000" y="2073325"/>
            <a:ext cx="7747596" cy="1660500"/>
          </a:xfrm>
          <a:custGeom>
            <a:avLst/>
            <a:gdLst/>
            <a:ahLst/>
            <a:cxnLst/>
            <a:rect l="0" t="0" r="0" b="0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1. Announcements</a:t>
            </a:r>
            <a:endParaRPr sz="1000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2. Recruiting</a:t>
            </a:r>
            <a:endParaRPr sz="18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3. Product Updates</a:t>
            </a:r>
            <a:endParaRPr sz="18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4.  Weekly Metrics</a:t>
            </a:r>
            <a:endParaRPr sz="18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0" name="Shape 60"/>
          <p:cNvCxnSpPr/>
          <p:nvPr/>
        </p:nvCxnSpPr>
        <p:spPr>
          <a:xfrm>
            <a:off x="469004" y="1765604"/>
            <a:ext cx="267300" cy="0"/>
          </a:xfrm>
          <a:prstGeom prst="straightConnector1">
            <a:avLst/>
          </a:prstGeom>
          <a:noFill/>
          <a:ln w="9525" cap="rnd" cmpd="sng">
            <a:solidFill>
              <a:srgbClr val="EBECED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1" name="Shape 61"/>
          <p:cNvSpPr/>
          <p:nvPr/>
        </p:nvSpPr>
        <p:spPr>
          <a:xfrm>
            <a:off x="469011" y="519150"/>
            <a:ext cx="8210374" cy="514596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6A8"/>
              </a:buClr>
              <a:buFont typeface="Arial"/>
              <a:buNone/>
            </a:pPr>
            <a:r>
              <a:rPr lang="en" sz="2400">
                <a:solidFill>
                  <a:srgbClr val="39D1B4"/>
                </a:solidFill>
                <a:latin typeface="Dosis"/>
                <a:ea typeface="Dosis"/>
                <a:cs typeface="Dosis"/>
                <a:sym typeface="Dosis"/>
              </a:rPr>
              <a:t>CONTENTS</a:t>
            </a:r>
            <a:endParaRPr sz="2400">
              <a:solidFill>
                <a:srgbClr val="39D1B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2" name="Shape 62"/>
          <p:cNvCxnSpPr/>
          <p:nvPr/>
        </p:nvCxnSpPr>
        <p:spPr>
          <a:xfrm>
            <a:off x="469004" y="3927779"/>
            <a:ext cx="267300" cy="0"/>
          </a:xfrm>
          <a:prstGeom prst="straightConnector1">
            <a:avLst/>
          </a:prstGeom>
          <a:noFill/>
          <a:ln w="9525" cap="rnd" cmpd="sng">
            <a:solidFill>
              <a:srgbClr val="EBECED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>
  <p:cSld name="CUSTOM_6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/>
        </p:nvSpPr>
        <p:spPr>
          <a:xfrm>
            <a:off x="469021" y="1906900"/>
            <a:ext cx="8171820" cy="78467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5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MAIN SECTION</a:t>
            </a:r>
            <a:r>
              <a:rPr lang="en" sz="560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5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TITLE</a:t>
            </a:r>
            <a:endParaRPr sz="10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469011" y="2738475"/>
            <a:ext cx="8171820" cy="514596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6A8"/>
              </a:buClr>
              <a:buFont typeface="Arial"/>
              <a:buNone/>
            </a:pPr>
            <a:r>
              <a:rPr lang="en" sz="3500" b="0" i="0" u="none" strike="noStrike" cap="none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Subtitle goes here</a:t>
            </a:r>
            <a:endParaRPr sz="10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-section Slide">
  <p:cSld name="CUSTOM_7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/>
          <p:nvPr/>
        </p:nvSpPr>
        <p:spPr>
          <a:xfrm>
            <a:off x="469021" y="1906900"/>
            <a:ext cx="8210374" cy="78467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5600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SUB-SECTION TITLE</a:t>
            </a:r>
            <a:endParaRPr sz="10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8" name="Shape 68"/>
          <p:cNvSpPr/>
          <p:nvPr/>
        </p:nvSpPr>
        <p:spPr>
          <a:xfrm>
            <a:off x="469011" y="2738475"/>
            <a:ext cx="8210374" cy="514596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6A8"/>
              </a:buClr>
              <a:buFont typeface="Arial"/>
              <a:buNone/>
            </a:pPr>
            <a:r>
              <a:rPr lang="en" sz="3500" b="0" i="0" u="none" strike="noStrike" cap="none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Subtitle goes here</a:t>
            </a:r>
            <a:endParaRPr sz="10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 Slide">
  <p:cSld name="CUSTOM_1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/>
        </p:nvSpPr>
        <p:spPr>
          <a:xfrm>
            <a:off x="469025" y="1767264"/>
            <a:ext cx="7697398" cy="2160656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32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here. Collaboratively administrate empower markets via plug-and-play networks. </a:t>
            </a:r>
            <a:r>
              <a:rPr lang="en" sz="32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Highlights</a:t>
            </a:r>
            <a:r>
              <a:rPr lang="en" sz="32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procrastinate B2C users after </a:t>
            </a:r>
            <a:r>
              <a:rPr lang="en" sz="32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installed base</a:t>
            </a:r>
            <a:r>
              <a:rPr lang="en" sz="32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benefits.</a:t>
            </a:r>
            <a:endParaRPr sz="3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1" name="Shape 71"/>
          <p:cNvSpPr/>
          <p:nvPr/>
        </p:nvSpPr>
        <p:spPr>
          <a:xfrm>
            <a:off x="469031" y="1063194"/>
            <a:ext cx="785826" cy="354980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939598"/>
                </a:solidFill>
                <a:latin typeface="Dosis"/>
                <a:ea typeface="Dosis"/>
                <a:cs typeface="Dosis"/>
                <a:sym typeface="Dosis"/>
              </a:rPr>
              <a:t>GOAL</a:t>
            </a:r>
            <a:endParaRPr sz="1800">
              <a:solidFill>
                <a:srgbClr val="939598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1">
  <p:cSld name="CUSTOM_9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69000" y="2073325"/>
            <a:ext cx="7747596" cy="1660500"/>
          </a:xfrm>
          <a:custGeom>
            <a:avLst/>
            <a:gdLst/>
            <a:ahLst/>
            <a:cxnLst/>
            <a:rect l="0" t="0" r="0" b="0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1. Announcements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2. Recruiting</a:t>
            </a:r>
            <a:endParaRPr sz="18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3. Product Updates</a:t>
            </a:r>
            <a:endParaRPr sz="18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18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4.  Weekly Metrics</a:t>
            </a:r>
            <a:endParaRPr sz="18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74" name="Shape 74"/>
          <p:cNvCxnSpPr/>
          <p:nvPr/>
        </p:nvCxnSpPr>
        <p:spPr>
          <a:xfrm>
            <a:off x="469004" y="1765604"/>
            <a:ext cx="267300" cy="0"/>
          </a:xfrm>
          <a:prstGeom prst="straightConnector1">
            <a:avLst/>
          </a:prstGeom>
          <a:noFill/>
          <a:ln w="9525" cap="rnd" cmpd="sng">
            <a:solidFill>
              <a:srgbClr val="2952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5" name="Shape 75"/>
          <p:cNvSpPr/>
          <p:nvPr/>
        </p:nvSpPr>
        <p:spPr>
          <a:xfrm>
            <a:off x="469011" y="519150"/>
            <a:ext cx="8210374" cy="514596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6A8"/>
              </a:buClr>
              <a:buFont typeface="Arial"/>
              <a:buNone/>
            </a:pPr>
            <a:r>
              <a:rPr lang="en" sz="2400">
                <a:solidFill>
                  <a:srgbClr val="6AB1D3"/>
                </a:solidFill>
                <a:latin typeface="Dosis"/>
                <a:ea typeface="Dosis"/>
                <a:cs typeface="Dosis"/>
                <a:sym typeface="Dosis"/>
              </a:rPr>
              <a:t>LIST OF THINGS</a:t>
            </a:r>
            <a:endParaRPr sz="2400">
              <a:solidFill>
                <a:srgbClr val="6AB1D3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76" name="Shape 76"/>
          <p:cNvCxnSpPr/>
          <p:nvPr/>
        </p:nvCxnSpPr>
        <p:spPr>
          <a:xfrm>
            <a:off x="469004" y="3927779"/>
            <a:ext cx="267300" cy="0"/>
          </a:xfrm>
          <a:prstGeom prst="straightConnector1">
            <a:avLst/>
          </a:prstGeom>
          <a:noFill/>
          <a:ln w="9525" cap="rnd" cmpd="sng">
            <a:solidFill>
              <a:srgbClr val="295269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2">
  <p:cSld name="CUSTOM_8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/>
        </p:nvSpPr>
        <p:spPr>
          <a:xfrm>
            <a:off x="469025" y="1083775"/>
            <a:ext cx="8210376" cy="1002302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with </a:t>
            </a:r>
            <a:r>
              <a:rPr lang="en" sz="280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highlights</a:t>
            </a: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. Collaboratively administrate empowered channel.</a:t>
            </a:r>
            <a:endParaRPr sz="28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9" name="Shape 79"/>
          <p:cNvSpPr/>
          <p:nvPr/>
        </p:nvSpPr>
        <p:spPr>
          <a:xfrm>
            <a:off x="469025" y="2543425"/>
            <a:ext cx="8210374" cy="2166326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2286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SzPts val="1800"/>
              <a:buFont typeface="Dosis"/>
              <a:buChar char="•"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List Item functional solutions</a:t>
            </a:r>
            <a:endParaRPr sz="1800">
              <a:latin typeface="Dosis"/>
              <a:ea typeface="Dosis"/>
              <a:cs typeface="Dosis"/>
              <a:sym typeface="Dosis"/>
            </a:endParaRPr>
          </a:p>
          <a:p>
            <a:pPr marL="2286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SzPts val="1800"/>
              <a:buFont typeface="Dosis"/>
              <a:buChar char="•"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List Item cross-media value</a:t>
            </a:r>
            <a:endParaRPr sz="1800">
              <a:latin typeface="Dosis"/>
              <a:ea typeface="Dosis"/>
              <a:cs typeface="Dosis"/>
              <a:sym typeface="Dosis"/>
            </a:endParaRPr>
          </a:p>
          <a:p>
            <a:pPr marL="2286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SzPts val="1800"/>
              <a:buFont typeface="Dosis"/>
              <a:buChar char="•"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List Item maximize timely </a:t>
            </a:r>
            <a:endParaRPr sz="1800">
              <a:latin typeface="Dosis"/>
              <a:ea typeface="Dosis"/>
              <a:cs typeface="Dosis"/>
              <a:sym typeface="Dosis"/>
            </a:endParaRPr>
          </a:p>
          <a:p>
            <a:pPr marL="2286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SzPts val="1800"/>
              <a:buFont typeface="Dosis"/>
              <a:buChar char="•"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List Item professionally cultivate </a:t>
            </a:r>
            <a:endParaRPr sz="1800">
              <a:latin typeface="Dosis"/>
              <a:ea typeface="Dosis"/>
              <a:cs typeface="Dosis"/>
              <a:sym typeface="Dosis"/>
            </a:endParaRPr>
          </a:p>
          <a:p>
            <a:pPr marL="2286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SzPts val="1800"/>
              <a:buFont typeface="Dosis"/>
              <a:buChar char="•"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List Item dynamically innovate</a:t>
            </a:r>
            <a:endParaRPr sz="18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0" name="Shape 80"/>
          <p:cNvSpPr/>
          <p:nvPr/>
        </p:nvSpPr>
        <p:spPr>
          <a:xfrm>
            <a:off x="469031" y="489942"/>
            <a:ext cx="809261" cy="356060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939598"/>
                </a:solidFill>
                <a:latin typeface="Dosis"/>
                <a:ea typeface="Dosis"/>
                <a:cs typeface="Dosis"/>
                <a:sym typeface="Dosis"/>
              </a:rPr>
              <a:t>TITLE</a:t>
            </a:r>
            <a:endParaRPr sz="1800">
              <a:solidFill>
                <a:srgbClr val="939598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2 - Andy">
  <p:cSld name="CUSTOM_8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/>
          <p:nvPr/>
        </p:nvSpPr>
        <p:spPr>
          <a:xfrm>
            <a:off x="469025" y="1083775"/>
            <a:ext cx="8210376" cy="1002302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with </a:t>
            </a:r>
            <a:r>
              <a:rPr lang="en" sz="280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highlights</a:t>
            </a: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. Collaboratively administrate empowered channel.</a:t>
            </a:r>
            <a:endParaRPr sz="28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3" name="Shape 83"/>
          <p:cNvSpPr/>
          <p:nvPr/>
        </p:nvSpPr>
        <p:spPr>
          <a:xfrm>
            <a:off x="469031" y="489942"/>
            <a:ext cx="809261" cy="356060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939598"/>
                </a:solidFill>
                <a:latin typeface="Dosis"/>
                <a:ea typeface="Dosis"/>
                <a:cs typeface="Dosis"/>
                <a:sym typeface="Dosis"/>
              </a:rPr>
              <a:t>TITLE</a:t>
            </a:r>
            <a:endParaRPr sz="1800">
              <a:solidFill>
                <a:srgbClr val="939598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469025" y="2735200"/>
            <a:ext cx="8210400" cy="2011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Font typeface="Dosis"/>
              <a:buChar char="●"/>
              <a:defRPr sz="2400">
                <a:latin typeface="Dosis"/>
                <a:ea typeface="Dosis"/>
                <a:cs typeface="Dosis"/>
                <a:sym typeface="Dosis"/>
              </a:defRPr>
            </a:lvl1pPr>
            <a:lvl2pPr marL="914400" lvl="1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○"/>
              <a:defRPr sz="600">
                <a:latin typeface="Dosis"/>
                <a:ea typeface="Dosis"/>
                <a:cs typeface="Dosis"/>
                <a:sym typeface="Dosis"/>
              </a:defRPr>
            </a:lvl2pPr>
            <a:lvl3pPr marL="1371600" lvl="2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■"/>
              <a:defRPr sz="600">
                <a:latin typeface="Dosis"/>
                <a:ea typeface="Dosis"/>
                <a:cs typeface="Dosis"/>
                <a:sym typeface="Dosis"/>
              </a:defRPr>
            </a:lvl3pPr>
            <a:lvl4pPr marL="1828800" lvl="3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●"/>
              <a:defRPr sz="600">
                <a:latin typeface="Dosis"/>
                <a:ea typeface="Dosis"/>
                <a:cs typeface="Dosis"/>
                <a:sym typeface="Dosis"/>
              </a:defRPr>
            </a:lvl4pPr>
            <a:lvl5pPr marL="2286000" lvl="4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○"/>
              <a:defRPr sz="600">
                <a:latin typeface="Dosis"/>
                <a:ea typeface="Dosis"/>
                <a:cs typeface="Dosis"/>
                <a:sym typeface="Dosis"/>
              </a:defRPr>
            </a:lvl5pPr>
            <a:lvl6pPr marL="2743200" lvl="5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■"/>
              <a:defRPr sz="600">
                <a:latin typeface="Dosis"/>
                <a:ea typeface="Dosis"/>
                <a:cs typeface="Dosis"/>
                <a:sym typeface="Dosis"/>
              </a:defRPr>
            </a:lvl6pPr>
            <a:lvl7pPr marL="3200400" lvl="6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●"/>
              <a:defRPr sz="600">
                <a:latin typeface="Dosis"/>
                <a:ea typeface="Dosis"/>
                <a:cs typeface="Dosis"/>
                <a:sym typeface="Dosis"/>
              </a:defRPr>
            </a:lvl7pPr>
            <a:lvl8pPr marL="3657600" lvl="7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○"/>
              <a:defRPr sz="600">
                <a:latin typeface="Dosis"/>
                <a:ea typeface="Dosis"/>
                <a:cs typeface="Dosis"/>
                <a:sym typeface="Dosis"/>
              </a:defRPr>
            </a:lvl8pPr>
            <a:lvl9pPr marL="4114800" lvl="8" indent="-266700" rtl="0">
              <a:spcBef>
                <a:spcPts val="0"/>
              </a:spcBef>
              <a:spcAft>
                <a:spcPts val="0"/>
              </a:spcAft>
              <a:buSzPts val="600"/>
              <a:buFont typeface="Dosis"/>
              <a:buChar char="■"/>
              <a:defRPr sz="600"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">
  <p:cSld name="CUSTOM_3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/>
        </p:nvSpPr>
        <p:spPr>
          <a:xfrm>
            <a:off x="469025" y="2498625"/>
            <a:ext cx="3836306" cy="59383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with important notes and thoughts.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7" name="Shape 87"/>
          <p:cNvSpPr/>
          <p:nvPr/>
        </p:nvSpPr>
        <p:spPr>
          <a:xfrm>
            <a:off x="469025" y="1083775"/>
            <a:ext cx="8210376" cy="1002302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with </a:t>
            </a:r>
            <a:r>
              <a:rPr lang="en" sz="280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highlights</a:t>
            </a: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. Collaboratively administrate empowered channel.</a:t>
            </a:r>
            <a:endParaRPr sz="28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8" name="Shape 88"/>
          <p:cNvSpPr/>
          <p:nvPr/>
        </p:nvSpPr>
        <p:spPr>
          <a:xfrm>
            <a:off x="469003" y="489950"/>
            <a:ext cx="3541048" cy="356060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939598"/>
                </a:solidFill>
                <a:latin typeface="Dosis"/>
                <a:ea typeface="Dosis"/>
                <a:cs typeface="Dosis"/>
                <a:sym typeface="Dosis"/>
              </a:rPr>
              <a:t>TITLE</a:t>
            </a:r>
            <a:endParaRPr sz="1800">
              <a:solidFill>
                <a:srgbClr val="939598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9" name="Shape 89"/>
          <p:cNvSpPr/>
          <p:nvPr/>
        </p:nvSpPr>
        <p:spPr>
          <a:xfrm>
            <a:off x="4841000" y="2498625"/>
            <a:ext cx="3836306" cy="59383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with important notes </a:t>
            </a:r>
            <a:r>
              <a:rPr lang="en" sz="18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and thoughts</a:t>
            </a: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" name="Shape 90"/>
          <p:cNvSpPr/>
          <p:nvPr/>
        </p:nvSpPr>
        <p:spPr>
          <a:xfrm>
            <a:off x="4841000" y="3269525"/>
            <a:ext cx="3836306" cy="151804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Quickly maximize timely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deliverables for real-time schemas. Dramatically maintain clicks-and-mortar solutions without functional solutions</a:t>
            </a:r>
            <a:r>
              <a:rPr lang="en" sz="11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for real-time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" name="Shape 91"/>
          <p:cNvSpPr/>
          <p:nvPr/>
        </p:nvSpPr>
        <p:spPr>
          <a:xfrm>
            <a:off x="469025" y="3269525"/>
            <a:ext cx="3836306" cy="151804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Quickly maximize timely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deliverables for real-time schemas. Dramatically maintain clicks-and-mortar solutions without functional solutions</a:t>
            </a:r>
            <a:r>
              <a:rPr lang="en" sz="11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for real-time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Column">
  <p:cSld name="CUSTOM_4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469025" y="1083775"/>
            <a:ext cx="8184726" cy="1002302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with </a:t>
            </a:r>
            <a:r>
              <a:rPr lang="en" sz="280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highlights</a:t>
            </a:r>
            <a:r>
              <a:rPr lang="en" sz="280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. Collaboratively administrate empowered channel.</a:t>
            </a:r>
            <a:endParaRPr sz="28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4" name="Shape 94"/>
          <p:cNvSpPr/>
          <p:nvPr/>
        </p:nvSpPr>
        <p:spPr>
          <a:xfrm>
            <a:off x="469025" y="3269525"/>
            <a:ext cx="2460126" cy="151804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Quickly maximize timely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deliverables for real-time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5" name="Shape 95"/>
          <p:cNvSpPr/>
          <p:nvPr/>
        </p:nvSpPr>
        <p:spPr>
          <a:xfrm>
            <a:off x="469031" y="2466975"/>
            <a:ext cx="2460126" cy="59383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important notes.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3345275" y="3261725"/>
            <a:ext cx="2458992" cy="151918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deliverables for real-time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7" name="Shape 97"/>
          <p:cNvSpPr/>
          <p:nvPr/>
        </p:nvSpPr>
        <p:spPr>
          <a:xfrm>
            <a:off x="3345273" y="2463626"/>
            <a:ext cx="2458992" cy="59383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important notes.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8" name="Shape 98"/>
          <p:cNvSpPr/>
          <p:nvPr/>
        </p:nvSpPr>
        <p:spPr>
          <a:xfrm>
            <a:off x="6193600" y="3261725"/>
            <a:ext cx="2460126" cy="151918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unleash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cross-media information without cross-media value. Quickly maximize timely deliverables for real-time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9" name="Shape 99"/>
          <p:cNvSpPr/>
          <p:nvPr/>
        </p:nvSpPr>
        <p:spPr>
          <a:xfrm>
            <a:off x="6220375" y="2460275"/>
            <a:ext cx="2458992" cy="593838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Key statement goes here important notes.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469007" y="489950"/>
            <a:ext cx="3036225" cy="356060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1800" b="0" i="0" u="none" strike="noStrike" cap="none">
                <a:solidFill>
                  <a:srgbClr val="939598"/>
                </a:solidFill>
                <a:latin typeface="Dosis"/>
                <a:ea typeface="Dosis"/>
                <a:cs typeface="Dosis"/>
                <a:sym typeface="Dosis"/>
              </a:rPr>
              <a:t>TITLE</a:t>
            </a:r>
            <a:endParaRPr sz="1800">
              <a:solidFill>
                <a:srgbClr val="939598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Column">
  <p:cSld name="CUSTOM_20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536150" y="252797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3" name="Shape 103"/>
          <p:cNvSpPr/>
          <p:nvPr/>
        </p:nvSpPr>
        <p:spPr>
          <a:xfrm>
            <a:off x="536150" y="218193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Pros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04" name="Shape 104"/>
          <p:cNvCxnSpPr/>
          <p:nvPr/>
        </p:nvCxnSpPr>
        <p:spPr>
          <a:xfrm>
            <a:off x="536148" y="2457040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5" name="Shape 105"/>
          <p:cNvSpPr/>
          <p:nvPr/>
        </p:nvSpPr>
        <p:spPr>
          <a:xfrm>
            <a:off x="2619675" y="218193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Pros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06" name="Shape 106"/>
          <p:cNvCxnSpPr/>
          <p:nvPr/>
        </p:nvCxnSpPr>
        <p:spPr>
          <a:xfrm>
            <a:off x="2619673" y="2457040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7" name="Shape 107"/>
          <p:cNvSpPr/>
          <p:nvPr/>
        </p:nvSpPr>
        <p:spPr>
          <a:xfrm>
            <a:off x="2619675" y="252797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4718025" y="218193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Pros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09" name="Shape 109"/>
          <p:cNvCxnSpPr/>
          <p:nvPr/>
        </p:nvCxnSpPr>
        <p:spPr>
          <a:xfrm>
            <a:off x="4725435" y="2457040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0" name="Shape 110"/>
          <p:cNvSpPr/>
          <p:nvPr/>
        </p:nvSpPr>
        <p:spPr>
          <a:xfrm>
            <a:off x="4718025" y="252797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11" name="Shape 111"/>
          <p:cNvSpPr/>
          <p:nvPr/>
        </p:nvSpPr>
        <p:spPr>
          <a:xfrm>
            <a:off x="6816375" y="218193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Pros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12" name="Shape 112"/>
          <p:cNvCxnSpPr/>
          <p:nvPr/>
        </p:nvCxnSpPr>
        <p:spPr>
          <a:xfrm>
            <a:off x="6816373" y="2457040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Shape 113"/>
          <p:cNvSpPr/>
          <p:nvPr/>
        </p:nvSpPr>
        <p:spPr>
          <a:xfrm>
            <a:off x="6816375" y="252797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14" name="Shape 114"/>
          <p:cNvPicPr preferRelativeResize="0"/>
          <p:nvPr/>
        </p:nvPicPr>
        <p:blipFill rotWithShape="1">
          <a:blip r:embed="rId2">
            <a:alphaModFix/>
          </a:blip>
          <a:srcRect b="50337"/>
          <a:stretch/>
        </p:blipFill>
        <p:spPr>
          <a:xfrm>
            <a:off x="536150" y="1109125"/>
            <a:ext cx="1819800" cy="68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Shape 115"/>
          <p:cNvSpPr/>
          <p:nvPr/>
        </p:nvSpPr>
        <p:spPr>
          <a:xfrm>
            <a:off x="536150" y="387012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536150" y="352408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Cons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17" name="Shape 117"/>
          <p:cNvCxnSpPr/>
          <p:nvPr/>
        </p:nvCxnSpPr>
        <p:spPr>
          <a:xfrm>
            <a:off x="536148" y="3799190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8" name="Shape 118"/>
          <p:cNvSpPr/>
          <p:nvPr/>
        </p:nvSpPr>
        <p:spPr>
          <a:xfrm>
            <a:off x="2619675" y="352408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Cons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19" name="Shape 119"/>
          <p:cNvCxnSpPr/>
          <p:nvPr/>
        </p:nvCxnSpPr>
        <p:spPr>
          <a:xfrm>
            <a:off x="2619673" y="3799191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0" name="Shape 120"/>
          <p:cNvSpPr/>
          <p:nvPr/>
        </p:nvSpPr>
        <p:spPr>
          <a:xfrm>
            <a:off x="2619675" y="387012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4718025" y="352408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Cons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22" name="Shape 122"/>
          <p:cNvCxnSpPr/>
          <p:nvPr/>
        </p:nvCxnSpPr>
        <p:spPr>
          <a:xfrm>
            <a:off x="4725435" y="3799191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3" name="Shape 123"/>
          <p:cNvSpPr/>
          <p:nvPr/>
        </p:nvSpPr>
        <p:spPr>
          <a:xfrm>
            <a:off x="4718025" y="387012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4" name="Shape 124"/>
          <p:cNvSpPr/>
          <p:nvPr/>
        </p:nvSpPr>
        <p:spPr>
          <a:xfrm>
            <a:off x="6816375" y="3524088"/>
            <a:ext cx="1834619" cy="22761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Cons</a:t>
            </a:r>
            <a:endParaRPr sz="1000">
              <a:solidFill>
                <a:srgbClr val="FA726E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25" name="Shape 125"/>
          <p:cNvCxnSpPr/>
          <p:nvPr/>
        </p:nvCxnSpPr>
        <p:spPr>
          <a:xfrm>
            <a:off x="6816373" y="3799191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6" name="Shape 126"/>
          <p:cNvSpPr/>
          <p:nvPr/>
        </p:nvSpPr>
        <p:spPr>
          <a:xfrm>
            <a:off x="6816375" y="3870120"/>
            <a:ext cx="1834619" cy="848772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0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Quickly maximize timely deliverables for real-time schemas. </a:t>
            </a:r>
            <a:endParaRPr sz="10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27" name="Shape 127"/>
          <p:cNvPicPr preferRelativeResize="0"/>
          <p:nvPr/>
        </p:nvPicPr>
        <p:blipFill rotWithShape="1">
          <a:blip r:embed="rId2">
            <a:alphaModFix/>
          </a:blip>
          <a:srcRect b="50337"/>
          <a:stretch/>
        </p:blipFill>
        <p:spPr>
          <a:xfrm>
            <a:off x="2619675" y="1109125"/>
            <a:ext cx="1819800" cy="6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Shape 128"/>
          <p:cNvPicPr preferRelativeResize="0"/>
          <p:nvPr/>
        </p:nvPicPr>
        <p:blipFill rotWithShape="1">
          <a:blip r:embed="rId2">
            <a:alphaModFix/>
          </a:blip>
          <a:srcRect b="50337"/>
          <a:stretch/>
        </p:blipFill>
        <p:spPr>
          <a:xfrm>
            <a:off x="4710563" y="1109125"/>
            <a:ext cx="1819800" cy="68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Shape 129"/>
          <p:cNvPicPr preferRelativeResize="0"/>
          <p:nvPr/>
        </p:nvPicPr>
        <p:blipFill rotWithShape="1">
          <a:blip r:embed="rId2">
            <a:alphaModFix/>
          </a:blip>
          <a:srcRect b="50337"/>
          <a:stretch/>
        </p:blipFill>
        <p:spPr>
          <a:xfrm>
            <a:off x="6823788" y="1109125"/>
            <a:ext cx="1819800" cy="68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Shape 130"/>
          <p:cNvSpPr/>
          <p:nvPr/>
        </p:nvSpPr>
        <p:spPr>
          <a:xfrm>
            <a:off x="536150" y="557454"/>
            <a:ext cx="1834619" cy="29354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Model A</a:t>
            </a:r>
            <a:endParaRPr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2619675" y="557454"/>
            <a:ext cx="1834619" cy="29354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Model B</a:t>
            </a:r>
            <a:endParaRPr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6801475" y="557454"/>
            <a:ext cx="1834619" cy="29354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Model D</a:t>
            </a:r>
            <a:endParaRPr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3" name="Shape 133"/>
          <p:cNvSpPr/>
          <p:nvPr/>
        </p:nvSpPr>
        <p:spPr>
          <a:xfrm>
            <a:off x="4717950" y="557454"/>
            <a:ext cx="1834619" cy="29354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Model C</a:t>
            </a:r>
            <a:endParaRPr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34" name="Shape 134"/>
          <p:cNvCxnSpPr/>
          <p:nvPr/>
        </p:nvCxnSpPr>
        <p:spPr>
          <a:xfrm>
            <a:off x="536148" y="935240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5" name="Shape 135"/>
          <p:cNvCxnSpPr/>
          <p:nvPr/>
        </p:nvCxnSpPr>
        <p:spPr>
          <a:xfrm>
            <a:off x="2619673" y="935241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6" name="Shape 136"/>
          <p:cNvCxnSpPr/>
          <p:nvPr/>
        </p:nvCxnSpPr>
        <p:spPr>
          <a:xfrm>
            <a:off x="4725435" y="935241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7" name="Shape 137"/>
          <p:cNvCxnSpPr/>
          <p:nvPr/>
        </p:nvCxnSpPr>
        <p:spPr>
          <a:xfrm>
            <a:off x="6816373" y="935241"/>
            <a:ext cx="1819800" cy="0"/>
          </a:xfrm>
          <a:prstGeom prst="straightConnector1">
            <a:avLst/>
          </a:prstGeom>
          <a:noFill/>
          <a:ln w="9525" cap="rnd" cmpd="sng">
            <a:solidFill>
              <a:srgbClr val="BCBEC0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xes Slide">
  <p:cSld name="CUSTOM_19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Shape 1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359" y="1347812"/>
            <a:ext cx="2434455" cy="2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Shape 140"/>
          <p:cNvSpPr/>
          <p:nvPr/>
        </p:nvSpPr>
        <p:spPr>
          <a:xfrm>
            <a:off x="457359" y="1347812"/>
            <a:ext cx="2434482" cy="2447869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295269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41" name="Shape 141"/>
          <p:cNvSpPr/>
          <p:nvPr/>
        </p:nvSpPr>
        <p:spPr>
          <a:xfrm>
            <a:off x="585722" y="1522982"/>
            <a:ext cx="2177712" cy="299160"/>
          </a:xfrm>
          <a:custGeom>
            <a:avLst/>
            <a:gdLst/>
            <a:ahLst/>
            <a:cxnLst/>
            <a:rect l="0" t="0" r="0" b="0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6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BOX TITLE</a:t>
            </a:r>
            <a:endParaRPr sz="16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42" name="Shape 142"/>
          <p:cNvCxnSpPr/>
          <p:nvPr/>
        </p:nvCxnSpPr>
        <p:spPr>
          <a:xfrm>
            <a:off x="627023" y="1961728"/>
            <a:ext cx="2095200" cy="0"/>
          </a:xfrm>
          <a:prstGeom prst="straightConnector1">
            <a:avLst/>
          </a:prstGeom>
          <a:noFill/>
          <a:ln w="9525" cap="rnd" cmpd="sng">
            <a:solidFill>
              <a:srgbClr val="E6E7E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3" name="Shape 143"/>
          <p:cNvSpPr/>
          <p:nvPr/>
        </p:nvSpPr>
        <p:spPr>
          <a:xfrm>
            <a:off x="641533" y="2167111"/>
            <a:ext cx="2066106" cy="1378502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Quickly maximize timely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deliverables for real-time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44" name="Shape 1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4758" y="1347812"/>
            <a:ext cx="2434455" cy="2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Shape 145"/>
          <p:cNvSpPr/>
          <p:nvPr/>
        </p:nvSpPr>
        <p:spPr>
          <a:xfrm>
            <a:off x="3354758" y="1347812"/>
            <a:ext cx="2434482" cy="2447869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295269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46" name="Shape 146"/>
          <p:cNvSpPr/>
          <p:nvPr/>
        </p:nvSpPr>
        <p:spPr>
          <a:xfrm>
            <a:off x="3483123" y="1522982"/>
            <a:ext cx="2177712" cy="299160"/>
          </a:xfrm>
          <a:custGeom>
            <a:avLst/>
            <a:gdLst/>
            <a:ahLst/>
            <a:cxnLst/>
            <a:rect l="0" t="0" r="0" b="0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6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BOX TITLE</a:t>
            </a:r>
            <a:endParaRPr sz="16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47" name="Shape 147"/>
          <p:cNvCxnSpPr/>
          <p:nvPr/>
        </p:nvCxnSpPr>
        <p:spPr>
          <a:xfrm>
            <a:off x="3524422" y="1961728"/>
            <a:ext cx="2095200" cy="0"/>
          </a:xfrm>
          <a:prstGeom prst="straightConnector1">
            <a:avLst/>
          </a:prstGeom>
          <a:noFill/>
          <a:ln w="9525" cap="rnd" cmpd="sng">
            <a:solidFill>
              <a:srgbClr val="E6E7E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8" name="Shape 148"/>
          <p:cNvSpPr/>
          <p:nvPr/>
        </p:nvSpPr>
        <p:spPr>
          <a:xfrm>
            <a:off x="3538933" y="2167111"/>
            <a:ext cx="2066106" cy="1378502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Quickly maximize timely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deliverables for real-time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49" name="Shape 1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52158" y="1347812"/>
            <a:ext cx="2434455" cy="2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Shape 150"/>
          <p:cNvSpPr/>
          <p:nvPr/>
        </p:nvSpPr>
        <p:spPr>
          <a:xfrm>
            <a:off x="6252158" y="1347812"/>
            <a:ext cx="2434482" cy="2447869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295269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sp>
        <p:nvSpPr>
          <p:cNvPr id="151" name="Shape 151"/>
          <p:cNvSpPr/>
          <p:nvPr/>
        </p:nvSpPr>
        <p:spPr>
          <a:xfrm>
            <a:off x="6380522" y="1522982"/>
            <a:ext cx="2177712" cy="299160"/>
          </a:xfrm>
          <a:custGeom>
            <a:avLst/>
            <a:gdLst/>
            <a:ahLst/>
            <a:cxnLst/>
            <a:rect l="0" t="0" r="0" b="0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6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BOX TITLE</a:t>
            </a:r>
            <a:endParaRPr sz="16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52" name="Shape 152"/>
          <p:cNvCxnSpPr/>
          <p:nvPr/>
        </p:nvCxnSpPr>
        <p:spPr>
          <a:xfrm>
            <a:off x="6421822" y="1961728"/>
            <a:ext cx="2095200" cy="0"/>
          </a:xfrm>
          <a:prstGeom prst="straightConnector1">
            <a:avLst/>
          </a:prstGeom>
          <a:noFill/>
          <a:ln w="9525" cap="rnd" cmpd="sng">
            <a:solidFill>
              <a:srgbClr val="E6E7E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Shape 153"/>
          <p:cNvSpPr/>
          <p:nvPr/>
        </p:nvSpPr>
        <p:spPr>
          <a:xfrm>
            <a:off x="6436332" y="2167111"/>
            <a:ext cx="2066106" cy="1378502"/>
          </a:xfrm>
          <a:custGeom>
            <a:avLst/>
            <a:gdLst/>
            <a:ahLst/>
            <a:cxnLst/>
            <a:rect l="0" t="0" r="0" b="0"/>
            <a:pathLst>
              <a:path w="21599" h="21599" extrusionOk="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cross-media information without cross-media value.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Quickly maximize timely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deliverables for real-time schemas. Dramatically maintain clicks-and-mortar solutions without functional solutions.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-Image Normal">
  <p:cSld name="CUSTOM_13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Shape 156"/>
          <p:cNvSpPr txBox="1"/>
          <p:nvPr/>
        </p:nvSpPr>
        <p:spPr>
          <a:xfrm>
            <a:off x="6291250" y="280950"/>
            <a:ext cx="25623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Title, could be longer or more wordy</a:t>
            </a:r>
            <a:endParaRPr sz="28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57" name="Shape 157"/>
          <p:cNvSpPr txBox="1"/>
          <p:nvPr/>
        </p:nvSpPr>
        <p:spPr>
          <a:xfrm>
            <a:off x="6257950" y="1843050"/>
            <a:ext cx="2628900" cy="30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Commentary</a:t>
            </a:r>
            <a:endParaRPr sz="1100" b="1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Lorem ipsum dolor sit amet, consectetur adipiscing elit. Proin auctor odio eu ante egestas convallis. Etiam neque justo.</a:t>
            </a:r>
            <a:endParaRPr sz="11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Trends</a:t>
            </a:r>
            <a:endParaRPr sz="1100" b="1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Lorem ipsum dolor sit amet, consectetur adipiscing elit. Proin auctor odio eu ante egestas convallis. Etiam neque justo.</a:t>
            </a:r>
            <a:endParaRPr sz="11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Key Findings</a:t>
            </a:r>
            <a:endParaRPr sz="1100" b="1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04056"/>
                </a:solidFill>
                <a:latin typeface="Dosis"/>
                <a:ea typeface="Dosis"/>
                <a:cs typeface="Dosis"/>
                <a:sym typeface="Dosis"/>
              </a:rPr>
              <a:t>Lorem ipsum dolor sit amet, consectetur adipiscing elit. Proin auctor odio eu ante egestas convallis. Etiam neque justo.</a:t>
            </a:r>
            <a:endParaRPr sz="1100"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0405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58" name="Shape 158"/>
          <p:cNvSpPr/>
          <p:nvPr/>
        </p:nvSpPr>
        <p:spPr>
          <a:xfrm>
            <a:off x="486668" y="359490"/>
            <a:ext cx="2423304" cy="227707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IMAGE TITLE</a:t>
            </a:r>
            <a:endParaRPr sz="1500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59" name="Shape 1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6668" y="784766"/>
            <a:ext cx="4521770" cy="342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Shape 160"/>
          <p:cNvSpPr/>
          <p:nvPr/>
        </p:nvSpPr>
        <p:spPr>
          <a:xfrm>
            <a:off x="486668" y="4452635"/>
            <a:ext cx="3240378" cy="333720"/>
          </a:xfrm>
          <a:custGeom>
            <a:avLst/>
            <a:gdLst/>
            <a:ahLst/>
            <a:cxnLst/>
            <a:rect l="0" t="0" r="0" b="0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cross-media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information without cross-media.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Image Slide">
  <p:cSld name="CUSTOM_14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/>
        </p:nvSpPr>
        <p:spPr>
          <a:xfrm>
            <a:off x="632594" y="4102372"/>
            <a:ext cx="2438905" cy="333720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cross-media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information without cross-media.</a:t>
            </a:r>
            <a:endParaRPr sz="11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3" name="Shape 163"/>
          <p:cNvSpPr/>
          <p:nvPr/>
        </p:nvSpPr>
        <p:spPr>
          <a:xfrm>
            <a:off x="640407" y="705146"/>
            <a:ext cx="2423304" cy="159617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IMAGE TITLE</a:t>
            </a:r>
            <a:endParaRPr sz="1500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64" name="Shape 1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4872" y="1111745"/>
            <a:ext cx="3578572" cy="271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Shape 1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78139" y="1111745"/>
            <a:ext cx="3578572" cy="2711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Shape 166"/>
          <p:cNvSpPr/>
          <p:nvPr/>
        </p:nvSpPr>
        <p:spPr>
          <a:xfrm>
            <a:off x="4874790" y="4103488"/>
            <a:ext cx="2438905" cy="33485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Efficiently unleash </a:t>
            </a:r>
            <a:r>
              <a:rPr lang="en" sz="1100" b="0" i="0" u="none" strike="noStrike" cap="none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cross-media</a:t>
            </a:r>
            <a:r>
              <a:rPr lang="en" sz="11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 information without cross-media.</a:t>
            </a:r>
            <a:endParaRPr sz="11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67" name="Shape 167"/>
          <p:cNvSpPr/>
          <p:nvPr/>
        </p:nvSpPr>
        <p:spPr>
          <a:xfrm>
            <a:off x="4882604" y="707379"/>
            <a:ext cx="2423304" cy="158483"/>
          </a:xfrm>
          <a:custGeom>
            <a:avLst/>
            <a:gdLst/>
            <a:ahLst/>
            <a:cxnLst/>
            <a:rect l="0" t="0" r="0" b="0"/>
            <a:pathLst>
              <a:path w="21600" h="21599" extrusionOk="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1500" b="0" i="0" u="none" strike="noStrike" cap="none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IMAGE TITLE</a:t>
            </a:r>
            <a:endParaRPr sz="1500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1">
  <p:cSld name="CUSTOM_15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Shape 169"/>
          <p:cNvPicPr preferRelativeResize="0"/>
          <p:nvPr/>
        </p:nvPicPr>
        <p:blipFill rotWithShape="1">
          <a:blip r:embed="rId2">
            <a:alphaModFix/>
          </a:blip>
          <a:srcRect b="15626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Shape 17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4056">
              <a:alpha val="82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Shape 171"/>
          <p:cNvSpPr txBox="1"/>
          <p:nvPr/>
        </p:nvSpPr>
        <p:spPr>
          <a:xfrm>
            <a:off x="1152550" y="1666975"/>
            <a:ext cx="6639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This is a bold statement or “quote” with a full bleed image</a:t>
            </a:r>
            <a:endParaRPr sz="40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2" name="Shape 172"/>
          <p:cNvSpPr txBox="1"/>
          <p:nvPr/>
        </p:nvSpPr>
        <p:spPr>
          <a:xfrm>
            <a:off x="1514500" y="3381475"/>
            <a:ext cx="5915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Name of Author (if it’s a quote)</a:t>
            </a:r>
            <a:endParaRPr sz="16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2">
  <p:cSld name="CUSTOM_16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Shape 1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Shape 17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4056">
              <a:alpha val="824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Shape 176"/>
          <p:cNvSpPr txBox="1"/>
          <p:nvPr/>
        </p:nvSpPr>
        <p:spPr>
          <a:xfrm>
            <a:off x="1152550" y="1666975"/>
            <a:ext cx="6639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This is a bold statement or “quote” with a full bleed image</a:t>
            </a:r>
            <a:endParaRPr sz="40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7" name="Shape 177"/>
          <p:cNvSpPr txBox="1"/>
          <p:nvPr/>
        </p:nvSpPr>
        <p:spPr>
          <a:xfrm>
            <a:off x="1514500" y="3381475"/>
            <a:ext cx="5915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Name of Author (if it’s a quote)</a:t>
            </a:r>
            <a:endParaRPr sz="16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son Slide">
  <p:cSld name="CUSTOM_17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Shape 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Shape 180"/>
          <p:cNvSpPr txBox="1"/>
          <p:nvPr/>
        </p:nvSpPr>
        <p:spPr>
          <a:xfrm>
            <a:off x="5581675" y="1952725"/>
            <a:ext cx="2409900" cy="16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Passionate developer, lover of pizza and cute little dogs. Previously at Acme Inc and Awesome Startup.</a:t>
            </a:r>
            <a:endParaRPr sz="18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1" name="Shape 181"/>
          <p:cNvSpPr txBox="1"/>
          <p:nvPr/>
        </p:nvSpPr>
        <p:spPr>
          <a:xfrm>
            <a:off x="5581675" y="1095475"/>
            <a:ext cx="24099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Welcome</a:t>
            </a:r>
            <a:endParaRPr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John Coder</a:t>
            </a:r>
            <a:endParaRPr sz="24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over white">
  <p:cSld name="CUSTOM_5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hape 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Shape 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949" y="2258699"/>
            <a:ext cx="2984101" cy="6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over blue" type="titleOnly">
  <p:cSld name="TITLE_ONLY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Shape 1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Shape 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946" y="2257954"/>
            <a:ext cx="2984101" cy="627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">
  <p:cSld name="CUSTOM_18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/>
        </p:nvSpPr>
        <p:spPr>
          <a:xfrm>
            <a:off x="469021" y="2179413"/>
            <a:ext cx="8210374" cy="78467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" sz="5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THANKS!</a:t>
            </a:r>
            <a:endParaRPr sz="10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2676525" y="3243775"/>
            <a:ext cx="3790948" cy="66155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Zach Sims   </a:t>
            </a:r>
            <a:endParaRPr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1200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@zsims   </a:t>
            </a:r>
            <a:endParaRPr sz="12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r>
              <a:rPr lang="en" sz="1200">
                <a:solidFill>
                  <a:srgbClr val="BCBEC0"/>
                </a:solidFill>
                <a:latin typeface="Dosis"/>
                <a:ea typeface="Dosis"/>
                <a:cs typeface="Dosis"/>
                <a:sym typeface="Dosis"/>
              </a:rPr>
              <a:t>zach@codecademy.com</a:t>
            </a:r>
            <a:endParaRPr sz="1200">
              <a:solidFill>
                <a:srgbClr val="BCBEC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91" name="Shape 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90566" y="1496600"/>
            <a:ext cx="1362880" cy="28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Shape 192"/>
          <p:cNvSpPr/>
          <p:nvPr/>
        </p:nvSpPr>
        <p:spPr>
          <a:xfrm>
            <a:off x="2676525" y="4634425"/>
            <a:ext cx="3790948" cy="34727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8CACB"/>
              </a:buClr>
              <a:buFont typeface="Arial"/>
              <a:buNone/>
            </a:pPr>
            <a:r>
              <a:rPr lang="en" sz="1200">
                <a:solidFill>
                  <a:srgbClr val="C8CACB"/>
                </a:solidFill>
                <a:latin typeface="Dosis"/>
                <a:ea typeface="Dosis"/>
                <a:cs typeface="Dosis"/>
                <a:sym typeface="Dosis"/>
              </a:rPr>
              <a:t>WE’RE HIRING:</a:t>
            </a:r>
            <a:r>
              <a:rPr lang="en" sz="1200">
                <a:solidFill>
                  <a:srgbClr val="F4F5F5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1200">
                <a:solidFill>
                  <a:srgbClr val="FA726E"/>
                </a:solidFill>
                <a:latin typeface="Dosis"/>
                <a:ea typeface="Dosis"/>
                <a:cs typeface="Dosis"/>
                <a:sym typeface="Dosis"/>
              </a:rPr>
              <a:t>http://www.codecademy.com/about/jobs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Font typeface="Arial"/>
              <a:buNone/>
            </a:pPr>
            <a:endParaRPr sz="12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2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Shape 195"/>
          <p:cNvCxnSpPr/>
          <p:nvPr/>
        </p:nvCxnSpPr>
        <p:spPr>
          <a:xfrm>
            <a:off x="381150" y="4509450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Shape 196"/>
          <p:cNvSpPr txBox="1"/>
          <p:nvPr/>
        </p:nvSpPr>
        <p:spPr>
          <a:xfrm>
            <a:off x="419725" y="4480500"/>
            <a:ext cx="13098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Dosis"/>
                <a:ea typeface="Dosis"/>
                <a:cs typeface="Dosis"/>
                <a:sym typeface="Dosis"/>
              </a:rPr>
              <a:t>Q2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97" name="Shape 197"/>
          <p:cNvCxnSpPr/>
          <p:nvPr/>
        </p:nvCxnSpPr>
        <p:spPr>
          <a:xfrm>
            <a:off x="3202338" y="4509450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" name="Shape 198"/>
          <p:cNvSpPr txBox="1"/>
          <p:nvPr/>
        </p:nvSpPr>
        <p:spPr>
          <a:xfrm>
            <a:off x="3240913" y="4480500"/>
            <a:ext cx="13098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Dosis"/>
                <a:ea typeface="Dosis"/>
                <a:cs typeface="Dosis"/>
                <a:sym typeface="Dosis"/>
              </a:rPr>
              <a:t>Q3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99" name="Shape 199"/>
          <p:cNvCxnSpPr/>
          <p:nvPr/>
        </p:nvCxnSpPr>
        <p:spPr>
          <a:xfrm>
            <a:off x="6023550" y="4509450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Shape 200"/>
          <p:cNvSpPr txBox="1"/>
          <p:nvPr/>
        </p:nvSpPr>
        <p:spPr>
          <a:xfrm>
            <a:off x="6062125" y="4480500"/>
            <a:ext cx="13098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Dosis"/>
                <a:ea typeface="Dosis"/>
                <a:cs typeface="Dosis"/>
                <a:sym typeface="Dosis"/>
              </a:rPr>
              <a:t>Q4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01" name="Shape 201"/>
          <p:cNvCxnSpPr/>
          <p:nvPr/>
        </p:nvCxnSpPr>
        <p:spPr>
          <a:xfrm>
            <a:off x="381150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Shape 202"/>
          <p:cNvSpPr txBox="1"/>
          <p:nvPr/>
        </p:nvSpPr>
        <p:spPr>
          <a:xfrm>
            <a:off x="419725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July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3" name="Shape 203"/>
          <p:cNvSpPr txBox="1"/>
          <p:nvPr/>
        </p:nvSpPr>
        <p:spPr>
          <a:xfrm>
            <a:off x="1365081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August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04" name="Shape 204"/>
          <p:cNvCxnSpPr/>
          <p:nvPr/>
        </p:nvCxnSpPr>
        <p:spPr>
          <a:xfrm>
            <a:off x="1326506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Shape 205"/>
          <p:cNvSpPr txBox="1"/>
          <p:nvPr/>
        </p:nvSpPr>
        <p:spPr>
          <a:xfrm>
            <a:off x="2312269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September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06" name="Shape 206"/>
          <p:cNvCxnSpPr/>
          <p:nvPr/>
        </p:nvCxnSpPr>
        <p:spPr>
          <a:xfrm>
            <a:off x="2273694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Shape 207"/>
          <p:cNvCxnSpPr/>
          <p:nvPr/>
        </p:nvCxnSpPr>
        <p:spPr>
          <a:xfrm>
            <a:off x="6023550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Shape 208"/>
          <p:cNvSpPr txBox="1"/>
          <p:nvPr/>
        </p:nvSpPr>
        <p:spPr>
          <a:xfrm>
            <a:off x="6062125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January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9" name="Shape 209"/>
          <p:cNvSpPr txBox="1"/>
          <p:nvPr/>
        </p:nvSpPr>
        <p:spPr>
          <a:xfrm>
            <a:off x="7007480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February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10" name="Shape 210"/>
          <p:cNvCxnSpPr/>
          <p:nvPr/>
        </p:nvCxnSpPr>
        <p:spPr>
          <a:xfrm>
            <a:off x="6968905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Shape 211"/>
          <p:cNvSpPr txBox="1"/>
          <p:nvPr/>
        </p:nvSpPr>
        <p:spPr>
          <a:xfrm>
            <a:off x="7954669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March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12" name="Shape 212"/>
          <p:cNvCxnSpPr/>
          <p:nvPr/>
        </p:nvCxnSpPr>
        <p:spPr>
          <a:xfrm>
            <a:off x="7916094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Shape 213"/>
          <p:cNvCxnSpPr/>
          <p:nvPr/>
        </p:nvCxnSpPr>
        <p:spPr>
          <a:xfrm>
            <a:off x="3202350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Shape 214"/>
          <p:cNvSpPr txBox="1"/>
          <p:nvPr/>
        </p:nvSpPr>
        <p:spPr>
          <a:xfrm>
            <a:off x="3240925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October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4186280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November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16" name="Shape 216"/>
          <p:cNvCxnSpPr/>
          <p:nvPr/>
        </p:nvCxnSpPr>
        <p:spPr>
          <a:xfrm>
            <a:off x="4147705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" name="Shape 217"/>
          <p:cNvSpPr txBox="1"/>
          <p:nvPr/>
        </p:nvSpPr>
        <p:spPr>
          <a:xfrm>
            <a:off x="5133469" y="4040675"/>
            <a:ext cx="859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7B7B7"/>
                </a:solidFill>
                <a:latin typeface="Dosis"/>
                <a:ea typeface="Dosis"/>
                <a:cs typeface="Dosis"/>
                <a:sym typeface="Dosis"/>
              </a:rPr>
              <a:t>December</a:t>
            </a: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B7B7B7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18" name="Shape 218"/>
          <p:cNvCxnSpPr/>
          <p:nvPr/>
        </p:nvCxnSpPr>
        <p:spPr>
          <a:xfrm>
            <a:off x="5094894" y="4069625"/>
            <a:ext cx="0" cy="2829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>
            <a:off x="3202338" y="977325"/>
            <a:ext cx="0" cy="289350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20" name="Shape 220"/>
          <p:cNvCxnSpPr/>
          <p:nvPr/>
        </p:nvCxnSpPr>
        <p:spPr>
          <a:xfrm>
            <a:off x="6023550" y="977325"/>
            <a:ext cx="0" cy="289350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21" name="Shape 221"/>
          <p:cNvCxnSpPr/>
          <p:nvPr/>
        </p:nvCxnSpPr>
        <p:spPr>
          <a:xfrm>
            <a:off x="381150" y="977325"/>
            <a:ext cx="0" cy="289350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22" name="Shape 222"/>
          <p:cNvSpPr/>
          <p:nvPr/>
        </p:nvSpPr>
        <p:spPr>
          <a:xfrm>
            <a:off x="1326500" y="3228775"/>
            <a:ext cx="1881300" cy="214800"/>
          </a:xfrm>
          <a:prstGeom prst="roundRect">
            <a:avLst>
              <a:gd name="adj" fmla="val 0"/>
            </a:avLst>
          </a:prstGeom>
          <a:solidFill>
            <a:srgbClr val="40D7C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rPr>
              <a:t>Spec definition</a:t>
            </a:r>
            <a:endParaRPr sz="1000">
              <a:solidFill>
                <a:srgbClr val="66666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3207925" y="3228775"/>
            <a:ext cx="2815500" cy="214800"/>
          </a:xfrm>
          <a:prstGeom prst="roundRect">
            <a:avLst>
              <a:gd name="adj" fmla="val 0"/>
            </a:avLst>
          </a:prstGeom>
          <a:solidFill>
            <a:srgbClr val="40D7C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rPr>
              <a:t>Evaluate, and build</a:t>
            </a:r>
            <a:endParaRPr sz="1000">
              <a:solidFill>
                <a:srgbClr val="66666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4" name="Shape 224"/>
          <p:cNvSpPr/>
          <p:nvPr/>
        </p:nvSpPr>
        <p:spPr>
          <a:xfrm>
            <a:off x="6023552" y="3443581"/>
            <a:ext cx="1500300" cy="214800"/>
          </a:xfrm>
          <a:prstGeom prst="roundRect">
            <a:avLst>
              <a:gd name="adj" fmla="val 0"/>
            </a:avLst>
          </a:prstGeom>
          <a:solidFill>
            <a:srgbClr val="40D7C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rPr>
              <a:t>non-US app store?</a:t>
            </a:r>
            <a:endParaRPr sz="1000">
              <a:solidFill>
                <a:srgbClr val="66666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5" name="Shape 225"/>
          <p:cNvSpPr/>
          <p:nvPr/>
        </p:nvSpPr>
        <p:spPr>
          <a:xfrm>
            <a:off x="1326450" y="1196281"/>
            <a:ext cx="2294400" cy="214800"/>
          </a:xfrm>
          <a:prstGeom prst="roundRect">
            <a:avLst>
              <a:gd name="adj" fmla="val 0"/>
            </a:avLst>
          </a:prstGeom>
          <a:solidFill>
            <a:srgbClr val="29526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LTP 1+2 francine release</a:t>
            </a:r>
            <a:endParaRPr sz="1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6" name="Shape 226"/>
          <p:cNvSpPr/>
          <p:nvPr/>
        </p:nvSpPr>
        <p:spPr>
          <a:xfrm>
            <a:off x="3620852" y="1196281"/>
            <a:ext cx="1122000" cy="214800"/>
          </a:xfrm>
          <a:prstGeom prst="roundRect">
            <a:avLst>
              <a:gd name="adj" fmla="val 0"/>
            </a:avLst>
          </a:prstGeom>
          <a:solidFill>
            <a:srgbClr val="29526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final release</a:t>
            </a:r>
            <a:endParaRPr sz="1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7" name="Shape 227"/>
          <p:cNvSpPr/>
          <p:nvPr/>
        </p:nvSpPr>
        <p:spPr>
          <a:xfrm>
            <a:off x="1326450" y="1501081"/>
            <a:ext cx="1881300" cy="214800"/>
          </a:xfrm>
          <a:prstGeom prst="roundRect">
            <a:avLst>
              <a:gd name="adj" fmla="val 0"/>
            </a:avLst>
          </a:prstGeom>
          <a:solidFill>
            <a:srgbClr val="29526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HT: 100 interviews</a:t>
            </a:r>
            <a:endParaRPr sz="1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3210751" y="1501081"/>
            <a:ext cx="1391400" cy="323700"/>
          </a:xfrm>
          <a:prstGeom prst="roundRect">
            <a:avLst>
              <a:gd name="adj" fmla="val 0"/>
            </a:avLst>
          </a:prstGeom>
          <a:solidFill>
            <a:srgbClr val="29526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hireability funnel + integration?</a:t>
            </a:r>
            <a:endParaRPr sz="1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1326450" y="2255231"/>
            <a:ext cx="1881300" cy="214800"/>
          </a:xfrm>
          <a:prstGeom prst="roundRect">
            <a:avLst>
              <a:gd name="adj" fmla="val 0"/>
            </a:avLst>
          </a:prstGeom>
          <a:solidFill>
            <a:srgbClr val="59A1C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Peer Code Review</a:t>
            </a:r>
            <a:endParaRPr sz="1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0" name="Shape 230"/>
          <p:cNvSpPr/>
          <p:nvPr/>
        </p:nvSpPr>
        <p:spPr>
          <a:xfrm>
            <a:off x="1326450" y="2552106"/>
            <a:ext cx="1881300" cy="214800"/>
          </a:xfrm>
          <a:prstGeom prst="roundRect">
            <a:avLst>
              <a:gd name="adj" fmla="val 0"/>
            </a:avLst>
          </a:prstGeom>
          <a:solidFill>
            <a:srgbClr val="59A1C9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Guidance Counselor</a:t>
            </a:r>
            <a:endParaRPr sz="1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1" name="Shape 231"/>
          <p:cNvSpPr/>
          <p:nvPr/>
        </p:nvSpPr>
        <p:spPr>
          <a:xfrm>
            <a:off x="7313577" y="3228781"/>
            <a:ext cx="1500300" cy="214800"/>
          </a:xfrm>
          <a:prstGeom prst="roundRect">
            <a:avLst>
              <a:gd name="adj" fmla="val 0"/>
            </a:avLst>
          </a:prstGeom>
          <a:solidFill>
            <a:srgbClr val="40D7C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rPr>
              <a:t>Deliver to US app store</a:t>
            </a:r>
            <a:endParaRPr sz="1000">
              <a:solidFill>
                <a:srgbClr val="66666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32" name="Shape 232"/>
          <p:cNvCxnSpPr/>
          <p:nvPr/>
        </p:nvCxnSpPr>
        <p:spPr>
          <a:xfrm>
            <a:off x="8813875" y="977325"/>
            <a:ext cx="0" cy="289350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33" name="Shape 233"/>
          <p:cNvSpPr/>
          <p:nvPr/>
        </p:nvSpPr>
        <p:spPr>
          <a:xfrm>
            <a:off x="6216263" y="641550"/>
            <a:ext cx="142500" cy="142500"/>
          </a:xfrm>
          <a:prstGeom prst="rect">
            <a:avLst/>
          </a:prstGeom>
          <a:solidFill>
            <a:srgbClr val="2952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Shape 234"/>
          <p:cNvSpPr txBox="1"/>
          <p:nvPr/>
        </p:nvSpPr>
        <p:spPr>
          <a:xfrm>
            <a:off x="6327286" y="536775"/>
            <a:ext cx="9723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95269"/>
                </a:solidFill>
                <a:latin typeface="Dosis"/>
                <a:ea typeface="Dosis"/>
                <a:cs typeface="Dosis"/>
                <a:sym typeface="Dosis"/>
              </a:rPr>
              <a:t>LTP3</a:t>
            </a:r>
            <a:endParaRPr sz="1100">
              <a:solidFill>
                <a:srgbClr val="29526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5" name="Shape 235"/>
          <p:cNvSpPr txBox="1"/>
          <p:nvPr/>
        </p:nvSpPr>
        <p:spPr>
          <a:xfrm>
            <a:off x="7040238" y="536775"/>
            <a:ext cx="10719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AB1D3"/>
                </a:solidFill>
                <a:latin typeface="Dosis"/>
                <a:ea typeface="Dosis"/>
                <a:cs typeface="Dosis"/>
                <a:sym typeface="Dosis"/>
              </a:rPr>
              <a:t>Community + $</a:t>
            </a:r>
            <a:endParaRPr sz="1100">
              <a:solidFill>
                <a:srgbClr val="6AB1D3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6" name="Shape 236"/>
          <p:cNvSpPr/>
          <p:nvPr/>
        </p:nvSpPr>
        <p:spPr>
          <a:xfrm>
            <a:off x="6929213" y="641550"/>
            <a:ext cx="142500" cy="142500"/>
          </a:xfrm>
          <a:prstGeom prst="rect">
            <a:avLst/>
          </a:prstGeom>
          <a:solidFill>
            <a:srgbClr val="6AB1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Shape 237"/>
          <p:cNvSpPr txBox="1"/>
          <p:nvPr/>
        </p:nvSpPr>
        <p:spPr>
          <a:xfrm>
            <a:off x="8301731" y="536775"/>
            <a:ext cx="10719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0D7C1"/>
                </a:solidFill>
                <a:latin typeface="Dosis"/>
                <a:ea typeface="Dosis"/>
                <a:cs typeface="Dosis"/>
                <a:sym typeface="Dosis"/>
              </a:rPr>
              <a:t>Mobile</a:t>
            </a:r>
            <a:endParaRPr sz="1100">
              <a:solidFill>
                <a:srgbClr val="40D7C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8" name="Shape 238"/>
          <p:cNvSpPr/>
          <p:nvPr/>
        </p:nvSpPr>
        <p:spPr>
          <a:xfrm>
            <a:off x="8190706" y="641550"/>
            <a:ext cx="142500" cy="142500"/>
          </a:xfrm>
          <a:prstGeom prst="rect">
            <a:avLst/>
          </a:prstGeom>
          <a:solidFill>
            <a:srgbClr val="40D7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9" name="Shape 239"/>
          <p:cNvCxnSpPr/>
          <p:nvPr/>
        </p:nvCxnSpPr>
        <p:spPr>
          <a:xfrm>
            <a:off x="381150" y="3849525"/>
            <a:ext cx="8435100" cy="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40" name="Shape 240"/>
          <p:cNvCxnSpPr/>
          <p:nvPr/>
        </p:nvCxnSpPr>
        <p:spPr>
          <a:xfrm>
            <a:off x="381150" y="977325"/>
            <a:ext cx="8435100" cy="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41" name="Shape 241"/>
          <p:cNvCxnSpPr/>
          <p:nvPr/>
        </p:nvCxnSpPr>
        <p:spPr>
          <a:xfrm>
            <a:off x="381150" y="2017875"/>
            <a:ext cx="8435100" cy="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42" name="Shape 242"/>
          <p:cNvCxnSpPr/>
          <p:nvPr/>
        </p:nvCxnSpPr>
        <p:spPr>
          <a:xfrm>
            <a:off x="381150" y="2987150"/>
            <a:ext cx="8435100" cy="0"/>
          </a:xfrm>
          <a:prstGeom prst="straightConnector1">
            <a:avLst/>
          </a:prstGeom>
          <a:noFill/>
          <a:ln w="9525" cap="flat" cmpd="sng">
            <a:solidFill>
              <a:srgbClr val="939598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Roboto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9" name="Shape 2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0" name="Shape 2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3" name="Shape 2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6" name="Shape 2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7" name="Shape 2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1" name="Shape 26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2" name="Shape 2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5" name="Shape 2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8" name="Shape 26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9" name="Shape 2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2" name="Shape 2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Shape 2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Shape 27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76" name="Shape 27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7" name="Shape 27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8" name="Shape 2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81" name="Shape 2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5" name="Shape 2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9526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295269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95269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6" name="Shape 2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/>
          <p:nvPr/>
        </p:nvSpPr>
        <p:spPr>
          <a:xfrm>
            <a:off x="466813" y="2163626"/>
            <a:ext cx="8210374" cy="1561464"/>
          </a:xfrm>
          <a:custGeom>
            <a:avLst/>
            <a:gdLst/>
            <a:ahLst/>
            <a:cxnLst/>
            <a:rect l="0" t="0" r="0" b="0"/>
            <a:pathLst>
              <a:path w="21599" h="21600" extrusionOk="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5269"/>
              </a:buClr>
              <a:buFont typeface="Arial"/>
              <a:buNone/>
            </a:pPr>
            <a:r>
              <a:rPr lang="en-US" sz="4800" noProof="0" dirty="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rPr>
              <a:t>User Churn Analyst with SQL</a:t>
            </a:r>
            <a:endParaRPr lang="en-US" sz="1050" noProof="0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  <a:sym typeface="Roboto Thin"/>
              </a:rPr>
              <a:t>Multi-month churn calculation using CTEs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  <a:sym typeface="Roboto Thin"/>
              </a:rPr>
              <a:t>Balázs Benedek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  <a:sym typeface="Roboto Thin"/>
              </a:rPr>
              <a:t>10.01.2026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 txBox="1">
            <a:spLocks noGrp="1"/>
          </p:cNvSpPr>
          <p:nvPr>
            <p:ph type="title"/>
          </p:nvPr>
        </p:nvSpPr>
        <p:spPr>
          <a:xfrm>
            <a:off x="311698" y="621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b="1" noProof="0" dirty="0">
                <a:solidFill>
                  <a:srgbClr val="EEEEEE"/>
                </a:solidFill>
              </a:rPr>
              <a:t>Business Question</a:t>
            </a:r>
            <a:endParaRPr lang="en-US" b="1" noProof="0" dirty="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Shape 305"/>
          <p:cNvSpPr txBox="1"/>
          <p:nvPr/>
        </p:nvSpPr>
        <p:spPr>
          <a:xfrm>
            <a:off x="311699" y="1265275"/>
            <a:ext cx="8520599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>
              <a:lnSpc>
                <a:spcPct val="115000"/>
              </a:lnSpc>
              <a:spcBef>
                <a:spcPts val="1100"/>
              </a:spcBef>
              <a:buClr>
                <a:schemeClr val="bg1"/>
              </a:buClr>
              <a:buSzPts val="2400"/>
              <a:buFont typeface="Roboto"/>
              <a:buAutoNum type="arabicPeriod"/>
            </a:pPr>
            <a:r>
              <a:rPr lang="en-US" sz="22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What is the monthly churn rate?</a:t>
            </a:r>
            <a:endParaRPr lang="en-US" sz="2200" noProof="0" dirty="0">
              <a:solidFill>
                <a:srgbClr val="EFEFEF"/>
              </a:solidFill>
              <a:latin typeface="Roboto Thin"/>
              <a:ea typeface="Roboto Thin"/>
              <a:cs typeface="Roboto Thin"/>
              <a:sym typeface="Roboto"/>
            </a:endParaRPr>
          </a:p>
          <a:p>
            <a:pPr marL="457200" indent="-381000">
              <a:lnSpc>
                <a:spcPct val="115000"/>
              </a:lnSpc>
              <a:buClr>
                <a:schemeClr val="bg1"/>
              </a:buClr>
              <a:buSzPts val="2400"/>
              <a:buFont typeface="Roboto"/>
              <a:buAutoNum type="arabicPeriod"/>
            </a:pPr>
            <a:r>
              <a:rPr lang="en-US" sz="22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Is there a difference between the different user segments?</a:t>
            </a:r>
            <a:endParaRPr lang="en-US" sz="2200" noProof="0" dirty="0">
              <a:solidFill>
                <a:srgbClr val="EFEFEF"/>
              </a:solidFill>
              <a:latin typeface="Roboto Thin"/>
              <a:ea typeface="Roboto Thin"/>
              <a:cs typeface="Roboto Thin"/>
              <a:sym typeface="Roboto"/>
            </a:endParaRPr>
          </a:p>
          <a:p>
            <a:pPr marL="457200" indent="-381000">
              <a:lnSpc>
                <a:spcPct val="115000"/>
              </a:lnSpc>
              <a:buClr>
                <a:schemeClr val="bg1"/>
              </a:buClr>
              <a:buSzPts val="2400"/>
              <a:buFont typeface="Roboto"/>
              <a:buAutoNum type="arabicPeriod"/>
            </a:pPr>
            <a:r>
              <a:rPr lang="en-US" sz="22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How does churn change over multiple months?</a:t>
            </a:r>
          </a:p>
          <a:p>
            <a:pPr marL="762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</a:pPr>
            <a:endParaRPr lang="en-US" sz="2400" noProof="0" dirty="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/>
          <p:nvPr/>
        </p:nvSpPr>
        <p:spPr>
          <a:xfrm>
            <a:off x="753000" y="502068"/>
            <a:ext cx="7638000" cy="115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noProof="0" dirty="0">
                <a:solidFill>
                  <a:srgbClr val="EEEEEE"/>
                </a:solidFill>
                <a:latin typeface="Roboto Black"/>
                <a:ea typeface="Roboto Black"/>
                <a:cs typeface="Roboto Black"/>
                <a:sym typeface="Roboto Black"/>
              </a:rPr>
              <a:t>Dataset overview</a:t>
            </a:r>
            <a:endParaRPr lang="en-US" noProof="0" dirty="0">
              <a:solidFill>
                <a:srgbClr val="EEEEEE"/>
              </a:solidFill>
            </a:endParaRPr>
          </a:p>
        </p:txBody>
      </p:sp>
      <p:sp>
        <p:nvSpPr>
          <p:cNvPr id="2" name="Shape 305">
            <a:extLst>
              <a:ext uri="{FF2B5EF4-FFF2-40B4-BE49-F238E27FC236}">
                <a16:creationId xmlns:a16="http://schemas.microsoft.com/office/drawing/2014/main" id="{60CC2110-2F14-D550-063C-451D5CD677D7}"/>
              </a:ext>
            </a:extLst>
          </p:cNvPr>
          <p:cNvSpPr txBox="1"/>
          <p:nvPr/>
        </p:nvSpPr>
        <p:spPr>
          <a:xfrm>
            <a:off x="329700" y="1654921"/>
            <a:ext cx="8061300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>
              <a:lnSpc>
                <a:spcPct val="115000"/>
              </a:lnSpc>
              <a:buClr>
                <a:srgbClr val="222222"/>
              </a:buClr>
              <a:buSzPts val="2400"/>
            </a:pPr>
            <a:endParaRPr lang="en-US" sz="2400" noProof="0" dirty="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B71B585-1CD7-8D9B-2596-29B667065F4E}"/>
              </a:ext>
            </a:extLst>
          </p:cNvPr>
          <p:cNvSpPr txBox="1"/>
          <p:nvPr/>
        </p:nvSpPr>
        <p:spPr>
          <a:xfrm>
            <a:off x="978194" y="1860330"/>
            <a:ext cx="7836105" cy="15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Table</a:t>
            </a:r>
            <a:r>
              <a:rPr lang="en-US" sz="22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: Subscriptions</a:t>
            </a:r>
          </a:p>
          <a:p>
            <a:pPr>
              <a:lnSpc>
                <a:spcPct val="150000"/>
              </a:lnSpc>
            </a:pPr>
            <a:r>
              <a:rPr lang="en-US" sz="2200" b="1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Columns</a:t>
            </a:r>
            <a:r>
              <a:rPr lang="en-US" sz="22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: subscription_start, subscription_end, segment</a:t>
            </a:r>
          </a:p>
          <a:p>
            <a:pPr>
              <a:lnSpc>
                <a:spcPct val="150000"/>
              </a:lnSpc>
            </a:pPr>
            <a:r>
              <a:rPr lang="en-US" sz="2200" b="1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Time range</a:t>
            </a:r>
            <a:r>
              <a:rPr lang="en-US" sz="22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: 2017-01 – 2017-03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/>
          <p:nvPr/>
        </p:nvSpPr>
        <p:spPr>
          <a:xfrm>
            <a:off x="311700" y="400725"/>
            <a:ext cx="8520600" cy="6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Monthly churn logic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177975" y="1059125"/>
            <a:ext cx="8520600" cy="1836000"/>
          </a:xfrm>
          <a:prstGeom prst="rect">
            <a:avLst/>
          </a:prstGeom>
          <a:solidFill>
            <a:srgbClr val="D9D9D9">
              <a:alpha val="80000"/>
            </a:srgbClr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Goal</a:t>
            </a:r>
            <a:b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Calculate monthly churn across multiple months (2017-01 to 2017-03), by segment</a:t>
            </a:r>
          </a:p>
          <a:p>
            <a:r>
              <a:rPr lang="en-US" sz="16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Definitions</a:t>
            </a:r>
            <a:b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Active users: subscriptions active on the first day of each month</a:t>
            </a:r>
            <a:b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Canceled users: subscriptions with end date within the given month</a:t>
            </a:r>
          </a:p>
          <a:p>
            <a:r>
              <a:rPr lang="en-US" sz="16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</a:t>
            </a:r>
            <a:b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CTE pipeline: months → cross join → status → status_aggregate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600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graphicFrame>
        <p:nvGraphicFramePr>
          <p:cNvPr id="317" name="Shape 317"/>
          <p:cNvGraphicFramePr/>
          <p:nvPr>
            <p:extLst>
              <p:ext uri="{D42A27DB-BD31-4B8C-83A1-F6EECF244321}">
                <p14:modId xmlns:p14="http://schemas.microsoft.com/office/powerpoint/2010/main" val="2783136887"/>
              </p:ext>
            </p:extLst>
          </p:nvPr>
        </p:nvGraphicFramePr>
        <p:xfrm>
          <a:off x="177975" y="2993825"/>
          <a:ext cx="8520599" cy="1748950"/>
        </p:xfrm>
        <a:graphic>
          <a:graphicData uri="http://schemas.openxmlformats.org/drawingml/2006/table">
            <a:tbl>
              <a:tblPr>
                <a:noFill/>
                <a:tableStyleId>{8628B589-4659-4227-9C68-565DD4A46BFE}</a:tableStyleId>
              </a:tblPr>
              <a:tblGrid>
                <a:gridCol w="1483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66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597">
                  <a:extLst>
                    <a:ext uri="{9D8B030D-6E8A-4147-A177-3AD203B41FA5}">
                      <a16:colId xmlns:a16="http://schemas.microsoft.com/office/drawing/2014/main" val="1285925346"/>
                    </a:ext>
                  </a:extLst>
                </a:gridCol>
              </a:tblGrid>
              <a:tr h="407950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0" dirty="0">
                          <a:solidFill>
                            <a:schemeClr val="tx1"/>
                          </a:solidFill>
                        </a:rPr>
                        <a:t>Month</a:t>
                      </a:r>
                    </a:p>
                  </a:txBody>
                  <a:tcPr marL="91425" marR="91425" marT="91425" marB="91425">
                    <a:solidFill>
                      <a:schemeClr val="accent3">
                        <a:alpha val="82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0" dirty="0">
                          <a:solidFill>
                            <a:schemeClr val="tx1"/>
                          </a:solidFill>
                        </a:rPr>
                        <a:t>Segment</a:t>
                      </a:r>
                    </a:p>
                  </a:txBody>
                  <a:tcPr marL="91425" marR="91425" marT="91425" marB="91425">
                    <a:solidFill>
                      <a:schemeClr val="accent3">
                        <a:alpha val="82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0" dirty="0">
                          <a:solidFill>
                            <a:schemeClr val="tx1"/>
                          </a:solidFill>
                        </a:rPr>
                        <a:t>Active (start of month)</a:t>
                      </a:r>
                    </a:p>
                  </a:txBody>
                  <a:tcPr marL="91425" marR="91425" marT="91425" marB="91425">
                    <a:solidFill>
                      <a:schemeClr val="accent3">
                        <a:alpha val="82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0" dirty="0">
                          <a:solidFill>
                            <a:schemeClr val="tx1"/>
                          </a:solidFill>
                        </a:rPr>
                        <a:t>Canceled (within month)</a:t>
                      </a:r>
                    </a:p>
                  </a:txBody>
                  <a:tcPr marL="91425" marR="91425" marT="91425" marB="91425">
                    <a:solidFill>
                      <a:schemeClr val="accent3">
                        <a:alpha val="8249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noProof="0" dirty="0">
                          <a:solidFill>
                            <a:schemeClr val="tx1"/>
                          </a:solidFill>
                        </a:rPr>
                        <a:t>Churn rate </a:t>
                      </a:r>
                    </a:p>
                  </a:txBody>
                  <a:tcPr marL="91425" marR="91425" marT="91425" marB="91425">
                    <a:solidFill>
                      <a:schemeClr val="accent3">
                        <a:alpha val="8249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75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2017-01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291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22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0.0756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75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2017-01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87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278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0.2518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75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2017-02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518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0.0734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75"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2017-02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87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462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148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noProof="0" dirty="0">
                          <a:solidFill>
                            <a:schemeClr val="tx1"/>
                          </a:solidFill>
                        </a:rPr>
                        <a:t>0.3203</a:t>
                      </a: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/>
          <p:nvPr/>
        </p:nvSpPr>
        <p:spPr>
          <a:xfrm>
            <a:off x="311700" y="209050"/>
            <a:ext cx="85206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0" dirty="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Final churn calculation (segment level)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5179100" y="1201325"/>
            <a:ext cx="3870900" cy="3657754"/>
          </a:xfrm>
          <a:prstGeom prst="rect">
            <a:avLst/>
          </a:prstGeom>
          <a:solidFill>
            <a:srgbClr val="D9D9D9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600" noProof="0" dirty="0">
              <a:solidFill>
                <a:schemeClr val="tx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en-US" sz="1600" noProof="0" dirty="0">
                <a:solidFill>
                  <a:schemeClr val="tx1"/>
                </a:solidFill>
                <a:latin typeface="Courier New"/>
                <a:cs typeface="Courier New"/>
              </a:rPr>
              <a:t>SELECT</a:t>
            </a:r>
          </a:p>
          <a:p>
            <a:pPr marL="136525" indent="-136525"/>
            <a:r>
              <a:rPr lang="en-US" sz="1600" noProof="0" dirty="0">
                <a:solidFill>
                  <a:schemeClr val="tx1"/>
                </a:solidFill>
                <a:latin typeface="Courier New"/>
                <a:cs typeface="Courier New"/>
              </a:rPr>
              <a:t>	month,</a:t>
            </a:r>
          </a:p>
          <a:p>
            <a:pPr marL="9525" indent="127000"/>
            <a:r>
              <a:rPr lang="en-US" sz="1600" noProof="0" dirty="0">
                <a:solidFill>
                  <a:schemeClr val="tx1"/>
                </a:solidFill>
                <a:latin typeface="Courier New"/>
                <a:cs typeface="Courier New"/>
              </a:rPr>
              <a:t>segment,</a:t>
            </a:r>
          </a:p>
          <a:p>
            <a:pPr marL="9525" indent="127000"/>
            <a:r>
              <a:rPr lang="en-US" sz="1600" noProof="0" dirty="0">
                <a:solidFill>
                  <a:schemeClr val="tx1"/>
                </a:solidFill>
                <a:latin typeface="Courier New"/>
                <a:cs typeface="Courier New"/>
              </a:rPr>
              <a:t>sum_canceled,</a:t>
            </a:r>
          </a:p>
          <a:p>
            <a:pPr marL="9525" indent="127000"/>
            <a:r>
              <a:rPr lang="en-US" sz="1600" noProof="0" dirty="0">
                <a:solidFill>
                  <a:schemeClr val="tx1"/>
                </a:solidFill>
                <a:latin typeface="Courier New"/>
                <a:cs typeface="Courier New"/>
              </a:rPr>
              <a:t>sum_active,</a:t>
            </a:r>
          </a:p>
          <a:p>
            <a:pPr marL="9525" indent="127000"/>
            <a:r>
              <a:rPr lang="en-US" sz="1600" noProof="0" dirty="0">
                <a:solidFill>
                  <a:schemeClr val="tx1"/>
                </a:solidFill>
                <a:latin typeface="Courier New"/>
                <a:cs typeface="Courier New"/>
              </a:rPr>
              <a:t>1.0 * sum_canceled / sum_active AS churn_rate</a:t>
            </a:r>
          </a:p>
          <a:p>
            <a:r>
              <a:rPr lang="en-US" sz="1600" noProof="0" dirty="0">
                <a:solidFill>
                  <a:schemeClr val="tx1"/>
                </a:solidFill>
                <a:latin typeface="Courier New"/>
                <a:cs typeface="Courier New"/>
              </a:rPr>
              <a:t>FROM status_aggregate;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noProof="0" dirty="0">
              <a:solidFill>
                <a:schemeClr val="tx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177975" y="1201325"/>
            <a:ext cx="4920900" cy="3657754"/>
          </a:xfrm>
          <a:prstGeom prst="rect">
            <a:avLst/>
          </a:prstGeom>
          <a:solidFill>
            <a:srgbClr val="D9D9D9">
              <a:alpha val="80000"/>
            </a:srgbClr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300"/>
              </a:spcAft>
            </a:pPr>
            <a:r>
              <a:rPr lang="en-US" sz="18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Purpose</a:t>
            </a:r>
            <a:endParaRPr lang="en-US" sz="1600" b="1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600"/>
              </a:spcAft>
            </a:pP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Compute monthly churn by segment</a:t>
            </a:r>
          </a:p>
          <a:p>
            <a:pPr>
              <a:spcAft>
                <a:spcPts val="300"/>
              </a:spcAft>
            </a:pPr>
            <a:r>
              <a:rPr lang="en-US" sz="18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Input</a:t>
            </a:r>
            <a:endParaRPr lang="en-US" sz="1600" b="1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300"/>
              </a:spcAft>
            </a:pP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Aggregated monthly activity and cancellations</a:t>
            </a:r>
          </a:p>
          <a:p>
            <a:pPr>
              <a:spcAft>
                <a:spcPts val="600"/>
              </a:spcAft>
            </a:pP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Source: status_aggregate CTE</a:t>
            </a:r>
          </a:p>
          <a:p>
            <a:pPr>
              <a:spcAft>
                <a:spcPts val="300"/>
              </a:spcAft>
            </a:pPr>
            <a:r>
              <a:rPr lang="en-US" sz="18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Output</a:t>
            </a:r>
            <a:endParaRPr lang="en-US" sz="1600" b="1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300"/>
              </a:spcAft>
            </a:pP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 row per month and segment</a:t>
            </a:r>
          </a:p>
          <a:p>
            <a:pPr>
              <a:spcAft>
                <a:spcPts val="600"/>
              </a:spcAft>
            </a:pP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Final churn metric: canceled / active</a:t>
            </a:r>
          </a:p>
          <a:p>
            <a:pPr>
              <a:spcAft>
                <a:spcPts val="300"/>
              </a:spcAft>
            </a:pPr>
            <a:r>
              <a:rPr lang="en-US" sz="18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Notes</a:t>
            </a:r>
            <a:endParaRPr lang="en-US" sz="1600" b="1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spcAft>
                <a:spcPts val="300"/>
              </a:spcAft>
            </a:pP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Division uses start-of-month active users</a:t>
            </a:r>
          </a:p>
          <a:p>
            <a:pPr>
              <a:spcAft>
                <a:spcPts val="300"/>
              </a:spcAft>
            </a:pPr>
            <a:r>
              <a:rPr lang="en-US" sz="1600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 used for analysis and comparison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600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>
          <a:extLst>
            <a:ext uri="{FF2B5EF4-FFF2-40B4-BE49-F238E27FC236}">
              <a16:creationId xmlns:a16="http://schemas.microsoft.com/office/drawing/2014/main" id="{9451A556-E824-3528-51D9-99E6C65C4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CC8A7E26-3411-3764-D143-2C9158984E00}"/>
              </a:ext>
            </a:extLst>
          </p:cNvPr>
          <p:cNvSpPr txBox="1"/>
          <p:nvPr/>
        </p:nvSpPr>
        <p:spPr>
          <a:xfrm>
            <a:off x="446567" y="499730"/>
            <a:ext cx="7676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noProof="0" dirty="0">
                <a:solidFill>
                  <a:schemeClr val="lt1"/>
                </a:solidFill>
                <a:latin typeface="Roboto Black"/>
                <a:ea typeface="Roboto Black"/>
                <a:cs typeface="Roboto Black"/>
              </a:rPr>
              <a:t>Key findings &amp; conclusions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5A9CF03-0785-8F6C-E8B9-058169D6400A}"/>
              </a:ext>
            </a:extLst>
          </p:cNvPr>
          <p:cNvSpPr txBox="1"/>
          <p:nvPr/>
        </p:nvSpPr>
        <p:spPr>
          <a:xfrm>
            <a:off x="542259" y="1658678"/>
            <a:ext cx="7368363" cy="2226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Monthly churn differs significantly across user segments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Segment 87 consistently shows higher churn than segment 30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Churn patterns can be compared reliably across months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SQL CTE-based approach enables transparent churn analysis</a:t>
            </a:r>
          </a:p>
          <a:p>
            <a:pPr>
              <a:lnSpc>
                <a:spcPct val="150000"/>
              </a:lnSpc>
            </a:pP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6A13A29-18C5-FB56-7C68-D5805A455D48}"/>
              </a:ext>
            </a:extLst>
          </p:cNvPr>
          <p:cNvSpPr txBox="1"/>
          <p:nvPr/>
        </p:nvSpPr>
        <p:spPr>
          <a:xfrm>
            <a:off x="6438012" y="4643770"/>
            <a:ext cx="26209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EFEFEF"/>
                </a:solidFill>
                <a:latin typeface="Roboto Thin"/>
                <a:ea typeface="Roboto Thin"/>
                <a:cs typeface="Roboto Thin"/>
              </a:rPr>
              <a:t>User Churn Analysis using SQL</a:t>
            </a:r>
          </a:p>
          <a:p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401069836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279</Words>
  <Application>Microsoft Macintosh PowerPoint</Application>
  <PresentationFormat>Diavetítés a képernyőre (16:9 oldalarány)</PresentationFormat>
  <Paragraphs>67</Paragraphs>
  <Slides>6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3</vt:i4>
      </vt:variant>
      <vt:variant>
        <vt:lpstr>Diacímek</vt:lpstr>
      </vt:variant>
      <vt:variant>
        <vt:i4>6</vt:i4>
      </vt:variant>
    </vt:vector>
  </HeadingPairs>
  <TitlesOfParts>
    <vt:vector size="15" baseType="lpstr">
      <vt:lpstr>Courier New</vt:lpstr>
      <vt:lpstr>Roboto Thin</vt:lpstr>
      <vt:lpstr>Arial</vt:lpstr>
      <vt:lpstr>Dosis</vt:lpstr>
      <vt:lpstr>Roboto Black</vt:lpstr>
      <vt:lpstr>Roboto</vt:lpstr>
      <vt:lpstr>Simple Light</vt:lpstr>
      <vt:lpstr>Simple Light</vt:lpstr>
      <vt:lpstr>Simple Light</vt:lpstr>
      <vt:lpstr>PowerPoint-bemutató</vt:lpstr>
      <vt:lpstr>Business Question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Capstone Templates</dc:title>
  <cp:lastModifiedBy>Benedek Balázs</cp:lastModifiedBy>
  <cp:revision>5</cp:revision>
  <dcterms:modified xsi:type="dcterms:W3CDTF">2026-01-10T20:38:50Z</dcterms:modified>
</cp:coreProperties>
</file>